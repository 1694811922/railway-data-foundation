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本次只讲研究内容一的统一数据底座：架构、功能和业务主链路。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底座只保存资源、能力、关系、计量和审计等管理信息。设计中的 Source 侧到 Demand 侧共享可经 REST、Kafka Broker 或 CDC 采集组件，但业务数据不经过底座。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流程上半部是底座管理动作；下半部是规划的外部业务链路。REST 可由需求方调用提供方接口，Kafka 经 Broker，CDC 经采集组件与消息链路。运行摘要异步上报，Foundation 不阻断数据传输。当前共享运行链路尚未实现。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2026-09-23 从工作区实际运行的 Vue 前端截取。左侧导航、数据源表格和成功连接本地 MySQL 的测试结果均在截图中。广州港数据源是本地模拟案例；扫描任务、资源和能力页面仍使用前端演示数据。后端真实完成范围见 docs/IMPLEMENTATION_STATUS.md。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每阶段以真实后端接口、前端联调和测试验收为完成依据。现有前端扫描、资源和能力页面可用于汇报，但其示例数据不等于后端功能已实现。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141502-9C3B-4E9B-A842-30BA9CDA4CB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/>
      <p:pic>
        <p:nvPicPr>
          <p:cNvPr id="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/>
      <p:pic>
        <p:nvPicPr>
          <p:cNvPr id="119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4"/>
            <a:ext cx="12194588" cy="6853636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6169" y="450677"/>
            <a:ext cx="11402250" cy="59610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17" name="标题 1"/>
          <p:cNvSpPr>
            <a:spLocks noGrp="1"/>
          </p:cNvSpPr>
          <p:nvPr>
            <p:ph type="title" hasCustomPrompt="1"/>
          </p:nvPr>
        </p:nvSpPr>
        <p:spPr>
          <a:xfrm>
            <a:off x="1406898" y="752801"/>
            <a:ext cx="3629564" cy="456129"/>
          </a:xfrm>
          <a:prstGeom prst="rect">
            <a:avLst/>
          </a:prstGeom>
        </p:spPr>
        <p:txBody>
          <a:bodyPr>
            <a:noAutofit/>
          </a:bodyPr>
          <a:lstStyle>
            <a:lvl1pPr>
              <a:buNone/>
              <a:defRPr sz="2400" b="1">
                <a:solidFill>
                  <a:srgbClr val="244C89"/>
                </a:solidFill>
              </a:defRPr>
            </a:lvl1pPr>
          </a:lstStyle>
          <a:p>
            <a:r>
              <a:t>单击编辑标题</a:t>
            </a:r>
          </a:p>
        </p:txBody>
      </p:sp>
      <p:sp>
        <p:nvSpPr>
          <p:cNvPr id="9" name="Freeform 5"/>
          <p:cNvSpPr>
            <a:spLocks noGrp="1"/>
          </p:cNvSpPr>
          <p:nvPr/>
        </p:nvSpPr>
        <p:spPr>
          <a:xfrm>
            <a:off x="861588" y="857970"/>
            <a:ext cx="441095" cy="525190"/>
          </a:xfrm>
          <a:custGeom>
            <a:avLst/>
            <a:gdLst>
              <a:gd name="T0" fmla="*/ 269 w 537"/>
              <a:gd name="T1" fmla="*/ 0 h 623"/>
              <a:gd name="T2" fmla="*/ 403 w 537"/>
              <a:gd name="T3" fmla="*/ 78 h 623"/>
              <a:gd name="T4" fmla="*/ 537 w 537"/>
              <a:gd name="T5" fmla="*/ 156 h 623"/>
              <a:gd name="T6" fmla="*/ 537 w 537"/>
              <a:gd name="T7" fmla="*/ 311 h 623"/>
              <a:gd name="T8" fmla="*/ 537 w 537"/>
              <a:gd name="T9" fmla="*/ 467 h 623"/>
              <a:gd name="T10" fmla="*/ 403 w 537"/>
              <a:gd name="T11" fmla="*/ 545 h 623"/>
              <a:gd name="T12" fmla="*/ 269 w 537"/>
              <a:gd name="T13" fmla="*/ 623 h 623"/>
              <a:gd name="T14" fmla="*/ 134 w 537"/>
              <a:gd name="T15" fmla="*/ 545 h 623"/>
              <a:gd name="T16" fmla="*/ 0 w 537"/>
              <a:gd name="T17" fmla="*/ 467 h 623"/>
              <a:gd name="T18" fmla="*/ 0 w 537"/>
              <a:gd name="T19" fmla="*/ 311 h 623"/>
              <a:gd name="T20" fmla="*/ 0 w 537"/>
              <a:gd name="T21" fmla="*/ 156 h 623"/>
              <a:gd name="T22" fmla="*/ 134 w 537"/>
              <a:gd name="T23" fmla="*/ 78 h 623"/>
              <a:gd name="T24" fmla="*/ 269 w 537"/>
              <a:gd name="T25" fmla="*/ 0 h 623"/>
              <a:gd name="T26" fmla="*/ 269 w 537"/>
              <a:gd name="T27" fmla="*/ 53 h 623"/>
              <a:gd name="T28" fmla="*/ 380 w 537"/>
              <a:gd name="T29" fmla="*/ 117 h 623"/>
              <a:gd name="T30" fmla="*/ 492 w 537"/>
              <a:gd name="T31" fmla="*/ 182 h 623"/>
              <a:gd name="T32" fmla="*/ 492 w 537"/>
              <a:gd name="T33" fmla="*/ 311 h 623"/>
              <a:gd name="T34" fmla="*/ 492 w 537"/>
              <a:gd name="T35" fmla="*/ 441 h 623"/>
              <a:gd name="T36" fmla="*/ 380 w 537"/>
              <a:gd name="T37" fmla="*/ 505 h 623"/>
              <a:gd name="T38" fmla="*/ 269 w 537"/>
              <a:gd name="T39" fmla="*/ 570 h 623"/>
              <a:gd name="T40" fmla="*/ 157 w 537"/>
              <a:gd name="T41" fmla="*/ 505 h 623"/>
              <a:gd name="T42" fmla="*/ 46 w 537"/>
              <a:gd name="T43" fmla="*/ 441 h 623"/>
              <a:gd name="T44" fmla="*/ 46 w 537"/>
              <a:gd name="T45" fmla="*/ 311 h 623"/>
              <a:gd name="T46" fmla="*/ 46 w 537"/>
              <a:gd name="T47" fmla="*/ 182 h 623"/>
              <a:gd name="T48" fmla="*/ 157 w 537"/>
              <a:gd name="T49" fmla="*/ 117 h 623"/>
              <a:gd name="T50" fmla="*/ 269 w 537"/>
              <a:gd name="T51" fmla="*/ 53 h 623"/>
              <a:gd name="T52" fmla="*/ 215 w 537"/>
              <a:gd name="T53" fmla="*/ 455 h 623"/>
              <a:gd name="T54" fmla="*/ 367 w 537"/>
              <a:gd name="T55" fmla="*/ 455 h 623"/>
              <a:gd name="T56" fmla="*/ 375 w 537"/>
              <a:gd name="T57" fmla="*/ 463 h 623"/>
              <a:gd name="T58" fmla="*/ 367 w 537"/>
              <a:gd name="T59" fmla="*/ 471 h 623"/>
              <a:gd name="T60" fmla="*/ 215 w 537"/>
              <a:gd name="T61" fmla="*/ 471 h 623"/>
              <a:gd name="T62" fmla="*/ 207 w 537"/>
              <a:gd name="T63" fmla="*/ 463 h 623"/>
              <a:gd name="T64" fmla="*/ 215 w 537"/>
              <a:gd name="T65" fmla="*/ 455 h 623"/>
              <a:gd name="T66" fmla="*/ 218 w 537"/>
              <a:gd name="T67" fmla="*/ 380 h 623"/>
              <a:gd name="T68" fmla="*/ 302 w 537"/>
              <a:gd name="T69" fmla="*/ 242 h 623"/>
              <a:gd name="T70" fmla="*/ 331 w 537"/>
              <a:gd name="T71" fmla="*/ 260 h 623"/>
              <a:gd name="T72" fmla="*/ 248 w 537"/>
              <a:gd name="T73" fmla="*/ 398 h 623"/>
              <a:gd name="T74" fmla="*/ 218 w 537"/>
              <a:gd name="T75" fmla="*/ 380 h 623"/>
              <a:gd name="T76" fmla="*/ 159 w 537"/>
              <a:gd name="T77" fmla="*/ 344 h 623"/>
              <a:gd name="T78" fmla="*/ 243 w 537"/>
              <a:gd name="T79" fmla="*/ 207 h 623"/>
              <a:gd name="T80" fmla="*/ 272 w 537"/>
              <a:gd name="T81" fmla="*/ 224 h 623"/>
              <a:gd name="T82" fmla="*/ 189 w 537"/>
              <a:gd name="T83" fmla="*/ 362 h 623"/>
              <a:gd name="T84" fmla="*/ 159 w 537"/>
              <a:gd name="T85" fmla="*/ 344 h 623"/>
              <a:gd name="T86" fmla="*/ 146 w 537"/>
              <a:gd name="T87" fmla="*/ 456 h 623"/>
              <a:gd name="T88" fmla="*/ 154 w 537"/>
              <a:gd name="T89" fmla="*/ 387 h 623"/>
              <a:gd name="T90" fmla="*/ 211 w 537"/>
              <a:gd name="T91" fmla="*/ 422 h 623"/>
              <a:gd name="T92" fmla="*/ 155 w 537"/>
              <a:gd name="T93" fmla="*/ 461 h 623"/>
              <a:gd name="T94" fmla="*/ 146 w 537"/>
              <a:gd name="T95" fmla="*/ 456 h 623"/>
              <a:gd name="T96" fmla="*/ 266 w 537"/>
              <a:gd name="T97" fmla="*/ 168 h 623"/>
              <a:gd name="T98" fmla="*/ 253 w 537"/>
              <a:gd name="T99" fmla="*/ 188 h 623"/>
              <a:gd name="T100" fmla="*/ 342 w 537"/>
              <a:gd name="T101" fmla="*/ 242 h 623"/>
              <a:gd name="T102" fmla="*/ 354 w 537"/>
              <a:gd name="T103" fmla="*/ 222 h 623"/>
              <a:gd name="T104" fmla="*/ 266 w 537"/>
              <a:gd name="T105" fmla="*/ 168 h 623"/>
              <a:gd name="T106" fmla="*/ 285 w 537"/>
              <a:gd name="T107" fmla="*/ 138 h 623"/>
              <a:gd name="T108" fmla="*/ 311 w 537"/>
              <a:gd name="T109" fmla="*/ 131 h 623"/>
              <a:gd name="T110" fmla="*/ 366 w 537"/>
              <a:gd name="T111" fmla="*/ 165 h 623"/>
              <a:gd name="T112" fmla="*/ 373 w 537"/>
              <a:gd name="T113" fmla="*/ 191 h 623"/>
              <a:gd name="T114" fmla="*/ 365 w 537"/>
              <a:gd name="T115" fmla="*/ 204 h 623"/>
              <a:gd name="T116" fmla="*/ 277 w 537"/>
              <a:gd name="T117" fmla="*/ 150 h 623"/>
              <a:gd name="T118" fmla="*/ 285 w 537"/>
              <a:gd name="T119" fmla="*/ 138 h 623"/>
            </a:gdLst>
            <a:ahLst/>
            <a:cxnLst/>
            <a:rect l="0" t="0" r="r" b="b"/>
            <a:pathLst>
              <a:path w="537" h="623">
                <a:moveTo>
                  <a:pt x="269" y="0"/>
                </a:moveTo>
                <a:lnTo>
                  <a:pt x="403" y="78"/>
                </a:lnTo>
                <a:lnTo>
                  <a:pt x="537" y="156"/>
                </a:lnTo>
                <a:lnTo>
                  <a:pt x="537" y="311"/>
                </a:lnTo>
                <a:lnTo>
                  <a:pt x="537" y="467"/>
                </a:lnTo>
                <a:lnTo>
                  <a:pt x="403" y="545"/>
                </a:lnTo>
                <a:lnTo>
                  <a:pt x="269" y="623"/>
                </a:lnTo>
                <a:lnTo>
                  <a:pt x="134" y="545"/>
                </a:lnTo>
                <a:lnTo>
                  <a:pt x="0" y="467"/>
                </a:lnTo>
                <a:lnTo>
                  <a:pt x="0" y="311"/>
                </a:lnTo>
                <a:lnTo>
                  <a:pt x="0" y="156"/>
                </a:lnTo>
                <a:lnTo>
                  <a:pt x="134" y="78"/>
                </a:lnTo>
                <a:lnTo>
                  <a:pt x="269" y="0"/>
                </a:lnTo>
                <a:close/>
                <a:moveTo>
                  <a:pt x="269" y="53"/>
                </a:moveTo>
                <a:lnTo>
                  <a:pt x="380" y="117"/>
                </a:lnTo>
                <a:lnTo>
                  <a:pt x="492" y="182"/>
                </a:lnTo>
                <a:lnTo>
                  <a:pt x="492" y="311"/>
                </a:lnTo>
                <a:lnTo>
                  <a:pt x="492" y="441"/>
                </a:lnTo>
                <a:lnTo>
                  <a:pt x="380" y="505"/>
                </a:lnTo>
                <a:lnTo>
                  <a:pt x="269" y="570"/>
                </a:lnTo>
                <a:lnTo>
                  <a:pt x="157" y="505"/>
                </a:lnTo>
                <a:lnTo>
                  <a:pt x="46" y="441"/>
                </a:lnTo>
                <a:lnTo>
                  <a:pt x="46" y="311"/>
                </a:lnTo>
                <a:lnTo>
                  <a:pt x="46" y="182"/>
                </a:lnTo>
                <a:lnTo>
                  <a:pt x="157" y="117"/>
                </a:lnTo>
                <a:lnTo>
                  <a:pt x="269" y="53"/>
                </a:lnTo>
                <a:close/>
                <a:moveTo>
                  <a:pt x="215" y="455"/>
                </a:moveTo>
                <a:lnTo>
                  <a:pt x="367" y="455"/>
                </a:lnTo>
                <a:cubicBezTo>
                  <a:pt x="371" y="455"/>
                  <a:pt x="375" y="458"/>
                  <a:pt x="375" y="463"/>
                </a:cubicBezTo>
                <a:cubicBezTo>
                  <a:pt x="375" y="467"/>
                  <a:pt x="371" y="471"/>
                  <a:pt x="367" y="471"/>
                </a:cubicBezTo>
                <a:lnTo>
                  <a:pt x="215" y="471"/>
                </a:lnTo>
                <a:cubicBezTo>
                  <a:pt x="211" y="471"/>
                  <a:pt x="207" y="467"/>
                  <a:pt x="207" y="463"/>
                </a:cubicBezTo>
                <a:cubicBezTo>
                  <a:pt x="207" y="458"/>
                  <a:pt x="211" y="455"/>
                  <a:pt x="215" y="455"/>
                </a:cubicBezTo>
                <a:close/>
                <a:moveTo>
                  <a:pt x="218" y="380"/>
                </a:moveTo>
                <a:lnTo>
                  <a:pt x="302" y="242"/>
                </a:lnTo>
                <a:lnTo>
                  <a:pt x="331" y="260"/>
                </a:lnTo>
                <a:lnTo>
                  <a:pt x="248" y="398"/>
                </a:lnTo>
                <a:lnTo>
                  <a:pt x="218" y="380"/>
                </a:lnTo>
                <a:close/>
                <a:moveTo>
                  <a:pt x="159" y="344"/>
                </a:moveTo>
                <a:lnTo>
                  <a:pt x="243" y="207"/>
                </a:lnTo>
                <a:lnTo>
                  <a:pt x="272" y="224"/>
                </a:lnTo>
                <a:lnTo>
                  <a:pt x="189" y="362"/>
                </a:lnTo>
                <a:lnTo>
                  <a:pt x="159" y="344"/>
                </a:lnTo>
                <a:close/>
                <a:moveTo>
                  <a:pt x="146" y="456"/>
                </a:moveTo>
                <a:lnTo>
                  <a:pt x="154" y="387"/>
                </a:lnTo>
                <a:lnTo>
                  <a:pt x="211" y="422"/>
                </a:lnTo>
                <a:lnTo>
                  <a:pt x="155" y="461"/>
                </a:lnTo>
                <a:cubicBezTo>
                  <a:pt x="149" y="465"/>
                  <a:pt x="145" y="463"/>
                  <a:pt x="146" y="456"/>
                </a:cubicBezTo>
                <a:close/>
                <a:moveTo>
                  <a:pt x="266" y="168"/>
                </a:moveTo>
                <a:lnTo>
                  <a:pt x="253" y="188"/>
                </a:lnTo>
                <a:lnTo>
                  <a:pt x="342" y="242"/>
                </a:lnTo>
                <a:lnTo>
                  <a:pt x="354" y="222"/>
                </a:lnTo>
                <a:lnTo>
                  <a:pt x="266" y="168"/>
                </a:lnTo>
                <a:close/>
                <a:moveTo>
                  <a:pt x="285" y="138"/>
                </a:moveTo>
                <a:cubicBezTo>
                  <a:pt x="290" y="129"/>
                  <a:pt x="302" y="126"/>
                  <a:pt x="311" y="131"/>
                </a:cubicBezTo>
                <a:lnTo>
                  <a:pt x="366" y="165"/>
                </a:lnTo>
                <a:cubicBezTo>
                  <a:pt x="375" y="170"/>
                  <a:pt x="378" y="182"/>
                  <a:pt x="373" y="191"/>
                </a:cubicBezTo>
                <a:lnTo>
                  <a:pt x="365" y="204"/>
                </a:lnTo>
                <a:lnTo>
                  <a:pt x="277" y="150"/>
                </a:lnTo>
                <a:lnTo>
                  <a:pt x="285" y="138"/>
                </a:lnTo>
                <a:close/>
              </a:path>
            </a:pathLst>
          </a:custGeom>
          <a:solidFill>
            <a:srgbClr val="244C89"/>
          </a:solidFill>
          <a:ln>
            <a:noFill/>
          </a:ln>
        </p:spPr>
        <p:txBody>
          <a:bodyPr vert="horz" wrap="square" lIns="91392" tIns="45696" rIns="91392" bIns="45696" anchor="t"/>
          <a:lstStyle/>
          <a:p>
            <a:endParaRPr sz="18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E589C-94A1-42B9-8490-2CD6EDB026B9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41502-9C3B-4E9B-A842-30BA9CDA4CB4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11264"/>
          </a:xfrm>
          <a:prstGeom prst="rect">
            <a:avLst/>
          </a:prstGeom>
        </p:spPr>
      </p:pic>
      <p:sp>
        <p:nvSpPr>
          <p:cNvPr id="23" name="任意多边形: 形状 22"/>
          <p:cNvSpPr>
            <a:spLocks noGrp="1"/>
          </p:cNvSpPr>
          <p:nvPr/>
        </p:nvSpPr>
        <p:spPr>
          <a:xfrm flipH="1">
            <a:off x="0" y="3124200"/>
            <a:ext cx="12192000" cy="1681755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: 形状 19"/>
          <p:cNvSpPr>
            <a:spLocks noGrp="1"/>
          </p:cNvSpPr>
          <p:nvPr/>
        </p:nvSpPr>
        <p:spPr>
          <a:xfrm flipH="1">
            <a:off x="0" y="3847013"/>
            <a:ext cx="12192000" cy="3010986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742950" y="5267325"/>
            <a:ext cx="9429750" cy="118872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norm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>
              <a:defRPr sz="3225" b="1">
                <a:solidFill>
                  <a:srgbClr val="3B66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3B66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研究内容一</a:t>
            </a:r>
            <a:endParaRPr sz="3600"/>
          </a:p>
          <a:p>
            <a:pPr>
              <a:defRPr sz="3225" b="1">
                <a:solidFill>
                  <a:srgbClr val="3B66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3B66A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</a:t>
            </a:r>
            <a:endParaRPr sz="3600"/>
          </a:p>
        </p:txBody>
      </p:sp>
      <p:pic>
        <p:nvPicPr>
          <p:cNvPr id="3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4889500"/>
            <a:ext cx="1524000" cy="1524000"/>
          </a:xfrm>
          <a:prstGeom prst="rect">
            <a:avLst/>
          </a:prstGeom>
        </p:spPr>
      </p:pic>
      <p:sp>
        <p:nvSpPr>
          <p:cNvPr id="26" name="矩形 25"/>
          <p:cNvSpPr>
            <a:spLocks noGrp="1"/>
          </p:cNvSpPr>
          <p:nvPr/>
        </p:nvSpPr>
        <p:spPr>
          <a:xfrm>
            <a:off x="800100" y="636270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defRPr sz="1350" b="0">
                <a:solidFill>
                  <a:srgbClr val="4F65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F658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系统架构、功能与实施计划 · 组会汇报</a:t>
            </a:r>
            <a:endParaRPr sz="1350" b="0">
              <a:solidFill>
                <a:srgbClr val="4F658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1476375" y="838200"/>
            <a:ext cx="9810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总体架构：底座治理，业务走外部链路</a:t>
            </a:r>
            <a:endParaRPr sz="26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58500" y="60007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r">
              <a:def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6A82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1000125" y="1562100"/>
            <a:ext cx="10001250" cy="714375"/>
          </a:xfrm>
          <a:prstGeom prst="roundRect">
            <a:avLst>
              <a:gd name="adj" fmla="val 10667"/>
            </a:avLst>
          </a:prstGeom>
          <a:solidFill>
            <a:srgbClr val="E9F5F1"/>
          </a:solidFill>
          <a:ln w="13335">
            <a:solidFill>
              <a:srgbClr val="99C9BE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90625" y="1657350"/>
            <a:ext cx="96202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725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统一数据底座管理门户</a:t>
            </a:r>
            <a:endParaRPr sz="1800" b="1">
              <a:solidFill>
                <a:srgbClr val="1479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90625" y="1981200"/>
            <a:ext cx="9620250" cy="238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接入管理      资源管理      能力管理      共享治理      运行监管</a:t>
            </a:r>
            <a:endParaRPr sz="12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53100" y="2314575"/>
            <a:ext cx="4953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988"/>
          </a:bodyPr>
          <a:lstStyle/>
          <a:p>
            <a:pPr algn="ctr">
              <a:defRPr sz="2175" b="0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</a:t>
            </a:r>
            <a:endParaRPr sz="2175" b="0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0125" y="2676525"/>
            <a:ext cx="10001250" cy="2314575"/>
          </a:xfrm>
          <a:prstGeom prst="roundRect">
            <a:avLst>
              <a:gd name="adj" fmla="val 3292"/>
            </a:avLst>
          </a:prstGeom>
          <a:solidFill>
            <a:srgbClr val="F5F8FC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90625" y="2781300"/>
            <a:ext cx="96202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0290"/>
          </a:bodyPr>
          <a:lstStyle/>
          <a:p>
            <a:pPr algn="ctr">
              <a:def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统一数据底座核心</a:t>
            </a:r>
            <a:endParaRPr sz="17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62050" y="3209925"/>
            <a:ext cx="1790700" cy="1362075"/>
          </a:xfrm>
          <a:prstGeom prst="roundRect">
            <a:avLst>
              <a:gd name="adj" fmla="val 5594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3324225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接入管理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47775" y="3743325"/>
            <a:ext cx="16192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数据源注册/测试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元数据扫描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114675" y="3209925"/>
            <a:ext cx="1790700" cy="1362075"/>
          </a:xfrm>
          <a:prstGeom prst="roundRect">
            <a:avLst>
              <a:gd name="adj" fmla="val 5594"/>
            </a:avLst>
          </a:prstGeom>
          <a:solidFill>
            <a:srgbClr val="E9F5F1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190875" y="3324225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资源管理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00400" y="3743325"/>
            <a:ext cx="16192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资源标识/字段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资源发布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5067300" y="3209925"/>
            <a:ext cx="1790700" cy="1362075"/>
          </a:xfrm>
          <a:prstGeom prst="roundRect">
            <a:avLst>
              <a:gd name="adj" fmla="val 5594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143500" y="3324225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能力管理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53025" y="3743325"/>
            <a:ext cx="16192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REST/Topic/CDC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能力登记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019925" y="3209925"/>
            <a:ext cx="1790700" cy="1362075"/>
          </a:xfrm>
          <a:prstGeom prst="roundRect">
            <a:avLst>
              <a:gd name="adj" fmla="val 5594"/>
            </a:avLst>
          </a:prstGeom>
          <a:solidFill>
            <a:srgbClr val="E9F5F1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096125" y="3324225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共享治理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105650" y="3743325"/>
            <a:ext cx="16192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共享关系/主体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使用条件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972550" y="3209925"/>
            <a:ext cx="1790700" cy="1362075"/>
          </a:xfrm>
          <a:prstGeom prst="roundRect">
            <a:avLst>
              <a:gd name="adj" fmla="val 5594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048750" y="3324225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24"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运行监管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58275" y="3743325"/>
            <a:ext cx="16192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计量/审计/追踪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异步旁路上报</a:t>
            </a:r>
            <a:endParaRPr sz="1275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90625" y="4648200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5926"/>
          </a:bodyPr>
          <a:lstStyle/>
          <a:p>
            <a:pPr algn="ctr">
              <a:defRPr sz="1350" b="0">
                <a:solidFill>
                  <a:srgbClr val="5E6D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E6D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管理信息：目录、元数据、能力、关系、运行摘要</a:t>
            </a:r>
            <a:endParaRPr sz="1350" b="0">
              <a:solidFill>
                <a:srgbClr val="5E6D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00125" y="5257800"/>
            <a:ext cx="3095625" cy="628650"/>
          </a:xfrm>
          <a:prstGeom prst="roundRect">
            <a:avLst>
              <a:gd name="adj" fmla="val 12121"/>
            </a:avLst>
          </a:prstGeom>
          <a:solidFill>
            <a:srgbClr val="FBF5E7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33475" y="5305425"/>
            <a:ext cx="28289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  数据提供源系统</a:t>
            </a:r>
            <a:endParaRPr sz="1425" b="1">
              <a:solidFill>
                <a:srgbClr val="9E62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238625" y="5334000"/>
            <a:ext cx="35242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底座外业务共享链路  →</a:t>
            </a:r>
            <a:endParaRPr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905750" y="5257800"/>
            <a:ext cx="3095625" cy="628650"/>
          </a:xfrm>
          <a:prstGeom prst="roundRect">
            <a:avLst>
              <a:gd name="adj" fmla="val 12121"/>
            </a:avLst>
          </a:prstGeom>
          <a:solidFill>
            <a:srgbClr val="FBF5E7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039100" y="5305425"/>
            <a:ext cx="2828925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Demand  数据共享需求系统</a:t>
            </a:r>
            <a:endParaRPr sz="1425" b="1">
              <a:solidFill>
                <a:srgbClr val="9E62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314450" y="4972050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0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↑ 元数据与能力登记</a:t>
            </a:r>
            <a:endParaRPr sz="1350" b="0">
              <a:solidFill>
                <a:srgbClr val="1479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400925" y="4972050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ctr">
              <a:defRPr sz="1350" b="0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↑ 运行摘要旁路上报</a:t>
            </a:r>
            <a:endParaRPr sz="1350" b="0">
              <a:solidFill>
                <a:srgbClr val="1479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1476375" y="838200"/>
            <a:ext cx="9810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完整流程：先登记治理，再共享监管</a:t>
            </a:r>
            <a:endParaRPr sz="26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58500" y="60007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r">
              <a:def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6A82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00125" y="1647825"/>
            <a:ext cx="38100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83"/>
          </a:bodyPr>
          <a:lstStyle/>
          <a:p>
            <a:pPr algn="l">
              <a:def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底座管理流程</a:t>
            </a:r>
            <a:endParaRPr sz="17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000125" y="2143125"/>
            <a:ext cx="1619250" cy="1285875"/>
          </a:xfrm>
          <a:prstGeom prst="roundRect">
            <a:avLst>
              <a:gd name="adj" fmla="val 5926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76325" y="2266950"/>
            <a:ext cx="14668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800350"/>
            <a:ext cx="1447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登记连接</a:t>
            </a:r>
            <a:endParaRPr sz="135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619375" y="2571750"/>
            <a:ext cx="38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091"/>
          </a:bodyPr>
          <a:lstStyle/>
          <a:p>
            <a:pPr algn="ctr">
              <a:def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009900" y="2143125"/>
            <a:ext cx="1619250" cy="1285875"/>
          </a:xfrm>
          <a:prstGeom prst="roundRect">
            <a:avLst>
              <a:gd name="adj" fmla="val 5926"/>
            </a:avLst>
          </a:prstGeom>
          <a:solidFill>
            <a:srgbClr val="E9F5F1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086100" y="2266950"/>
            <a:ext cx="14668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元数据扫描</a:t>
            </a:r>
            <a:endParaRPr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95625" y="2800350"/>
            <a:ext cx="1447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形成资源目录</a:t>
            </a:r>
            <a:endParaRPr lang="zh-CN" sz="135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629150" y="2571750"/>
            <a:ext cx="38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091"/>
          </a:bodyPr>
          <a:lstStyle/>
          <a:p>
            <a:pPr algn="ctr">
              <a:def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019675" y="2143125"/>
            <a:ext cx="1619250" cy="1285875"/>
          </a:xfrm>
          <a:prstGeom prst="roundRect">
            <a:avLst>
              <a:gd name="adj" fmla="val 5926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095875" y="2266950"/>
            <a:ext cx="14668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资源管理</a:t>
            </a:r>
            <a:endParaRPr lang="zh-CN"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105400" y="2800350"/>
            <a:ext cx="1447800" cy="3905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维护字段</a:t>
            </a:r>
            <a:endParaRPr lang="zh-CN" sz="12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发布状态</a:t>
            </a:r>
            <a:endParaRPr lang="zh-CN" sz="12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补全业务信息</a:t>
            </a:r>
            <a:endParaRPr sz="12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38925" y="2571750"/>
            <a:ext cx="38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091"/>
          </a:bodyPr>
          <a:lstStyle/>
          <a:p>
            <a:pPr algn="ctr">
              <a:def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029450" y="2143125"/>
            <a:ext cx="1619250" cy="1285875"/>
          </a:xfrm>
          <a:prstGeom prst="roundRect">
            <a:avLst>
              <a:gd name="adj" fmla="val 5926"/>
            </a:avLst>
          </a:prstGeom>
          <a:solidFill>
            <a:srgbClr val="E9F5F1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105650" y="2266950"/>
            <a:ext cx="14668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能力管理</a:t>
            </a:r>
            <a:endParaRPr lang="zh-CN"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15175" y="2800350"/>
            <a:ext cx="1447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登记访问方式</a:t>
            </a:r>
            <a:endParaRPr sz="135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48700" y="2571750"/>
            <a:ext cx="381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091"/>
          </a:bodyPr>
          <a:lstStyle/>
          <a:p>
            <a:pPr algn="ctr">
              <a:def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039225" y="2143125"/>
            <a:ext cx="1619250" cy="1285875"/>
          </a:xfrm>
          <a:prstGeom prst="roundRect">
            <a:avLst>
              <a:gd name="adj" fmla="val 5926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15425" y="2266950"/>
            <a:ext cx="14668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共享关系</a:t>
            </a:r>
            <a:endParaRPr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24950" y="2800350"/>
            <a:ext cx="14478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约定使用条件</a:t>
            </a:r>
            <a:endParaRPr sz="135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00125" y="3848100"/>
            <a:ext cx="38100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783"/>
          </a:bodyPr>
          <a:lstStyle/>
          <a:p>
            <a:pPr algn="l">
              <a:defRPr sz="1725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外部业务主链路</a:t>
            </a:r>
            <a:endParaRPr sz="1725" b="1">
              <a:solidFill>
                <a:srgbClr val="1479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00125" y="4352925"/>
            <a:ext cx="2905125" cy="847725"/>
          </a:xfrm>
          <a:prstGeom prst="roundRect">
            <a:avLst>
              <a:gd name="adj" fmla="val 8989"/>
            </a:avLst>
          </a:prstGeom>
          <a:solidFill>
            <a:srgbClr val="FBF5E7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4448175"/>
            <a:ext cx="261937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lang="zh-CN" sz="1650" b="1">
              <a:solidFill>
                <a:srgbClr val="9E62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010025" y="4514850"/>
            <a:ext cx="4000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 REST / Kafka / CDC 外部链路  →</a:t>
            </a:r>
            <a:endParaRPr sz="150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096250" y="4352925"/>
            <a:ext cx="2905125" cy="847725"/>
          </a:xfrm>
          <a:prstGeom prst="roundRect">
            <a:avLst>
              <a:gd name="adj" fmla="val 8989"/>
            </a:avLst>
          </a:prstGeom>
          <a:solidFill>
            <a:srgbClr val="FBF5E7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239125" y="4448175"/>
            <a:ext cx="2619375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650" b="1">
                <a:solidFill>
                  <a:srgbClr val="9E62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需求方</a:t>
            </a:r>
            <a:endParaRPr lang="zh-CN" sz="1650" b="1">
              <a:solidFill>
                <a:srgbClr val="9E62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1476375" y="838200"/>
            <a:ext cx="9810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当前进展：数据源已完成本地联调</a:t>
            </a:r>
            <a:endParaRPr sz="26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58500" y="60007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r">
              <a:def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6A82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00125" y="1524000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数据源管理、连接测试与表字段只读读取已接通真实后端</a:t>
            </a:r>
            <a:endParaRPr sz="17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645" y="2000250"/>
            <a:ext cx="10000211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1476375" y="838200"/>
            <a:ext cx="98107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625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后续规划：按接入、能力、治理推进</a:t>
            </a:r>
            <a:endParaRPr sz="2625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858500" y="6000750"/>
            <a:ext cx="61912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r">
              <a:def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A82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6A82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圆角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00125" y="2076450"/>
            <a:ext cx="3143250" cy="3028950"/>
          </a:xfrm>
          <a:prstGeom prst="roundRect">
            <a:avLst>
              <a:gd name="adj" fmla="val 2516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90625" y="2257425"/>
            <a:ext cx="27622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81100" y="27432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完善资源基础</a:t>
            </a:r>
            <a:endParaRPr sz="1800" b="1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09675" y="3514725"/>
            <a:ext cx="2724150" cy="1295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扫描任务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发布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362450" y="2076450"/>
            <a:ext cx="3143250" cy="3028950"/>
          </a:xfrm>
          <a:prstGeom prst="roundRect">
            <a:avLst>
              <a:gd name="adj" fmla="val 2516"/>
            </a:avLst>
          </a:prstGeom>
          <a:solidFill>
            <a:srgbClr val="E9F5F1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52950" y="2257425"/>
            <a:ext cx="27622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479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</a:t>
            </a:r>
            <a:endParaRPr sz="1650" b="1">
              <a:solidFill>
                <a:srgbClr val="1479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543425" y="27432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纳管访问能力</a:t>
            </a:r>
            <a:endParaRPr sz="1800" b="1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572000" y="3514725"/>
            <a:ext cx="2724150" cy="1295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Capability 登记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REST / Kafka / CDC 验证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724775" y="2076450"/>
            <a:ext cx="3143250" cy="3028950"/>
          </a:xfrm>
          <a:prstGeom prst="roundRect">
            <a:avLst>
              <a:gd name="adj" fmla="val 2516"/>
            </a:avLst>
          </a:prstGeom>
          <a:solidFill>
            <a:srgbClr val="EAF1FA"/>
          </a:solidFill>
          <a:ln w="13335">
            <a:solidFill>
              <a:srgbClr val="B6C9E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915275" y="2257425"/>
            <a:ext cx="276225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44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</a:t>
            </a:r>
            <a:endParaRPr sz="1650" b="1">
              <a:solidFill>
                <a:srgbClr val="244C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905750" y="27432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形成共享治理闭环</a:t>
            </a:r>
            <a:endParaRPr sz="1800" b="1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934325" y="3514725"/>
            <a:ext cx="2724150" cy="1295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共享关系与使用条件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计量</a:t>
            </a: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</a:t>
            </a:r>
            <a:r>
              <a:rPr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500" b="0">
                <a:solidFill>
                  <a:srgbClr val="263A5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追踪</a:t>
            </a:r>
            <a:endParaRPr sz="1500" b="0">
              <a:solidFill>
                <a:srgbClr val="263A5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2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3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4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5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6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7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8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9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10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11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ags/tag12.xml><?xml version="1.0" encoding="utf-8"?>
<p:tagLst xmlns:p="http://schemas.openxmlformats.org/presentationml/2006/main">
  <p:tag name="KSO_WM_DIAGRAM_VIRTUALLY_FRAME" val="{&quot;height&quot;:238.5,&quot;left&quot;:78.75,&quot;top&quot;:163.5,&quot;width&quot;:77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演示</Application>
  <PresentationFormat>Converted Presentation</PresentationFormat>
  <Paragraphs>130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刘冉</cp:lastModifiedBy>
  <cp:revision>11</cp:revision>
  <dcterms:created xsi:type="dcterms:W3CDTF">2026-09-23T13:47:00Z</dcterms:created>
  <dcterms:modified xsi:type="dcterms:W3CDTF">2026-09-23T16:06:15Z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DB50513F484645A188E6A2157EB12FBB_12</vt:lpwstr>
  </property>
</Properties>
</file>